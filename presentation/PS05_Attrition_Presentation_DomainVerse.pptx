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B4332"/>
                </a:solidFill>
                <a:latin typeface="Cambria"/>
              </a:rPr>
              <a:t>Metric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0.752</c:v>
                </c:pt>
                <c:pt idx="1">
                  <c:v>0.34499999999999997</c:v>
                </c:pt>
                <c:pt idx="2">
                  <c:v>0.61699999999999999</c:v>
                </c:pt>
                <c:pt idx="3">
                  <c:v>0.443</c:v>
                </c:pt>
                <c:pt idx="4">
                  <c:v>0.79800000000000004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2-4C3C-B443-5DE79525AB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0.82299999999999995</c:v>
                </c:pt>
                <c:pt idx="1">
                  <c:v>0.41899999999999998</c:v>
                </c:pt>
                <c:pt idx="2">
                  <c:v>0.27700000000000002</c:v>
                </c:pt>
                <c:pt idx="3">
                  <c:v>0.33300000000000002</c:v>
                </c:pt>
                <c:pt idx="4">
                  <c:v>0.77800000000000002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C2-4C3C-B443-5DE79525AB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1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33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669280" cy="566928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07492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5440680"/>
            <a:ext cx="109728" cy="109728"/>
          </a:xfrm>
          <a:prstGeom prst="ellipse">
            <a:avLst/>
          </a:prstGeom>
          <a:solidFill>
            <a:srgbClr val="8FBF9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4892040"/>
            <a:ext cx="182880" cy="182880"/>
          </a:xfrm>
          <a:prstGeom prst="ellipse">
            <a:avLst/>
          </a:prstGeom>
          <a:solidFill>
            <a:srgbClr val="C9A22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5577840"/>
            <a:ext cx="128016" cy="128016"/>
          </a:xfrm>
          <a:prstGeom prst="ellipse">
            <a:avLst/>
          </a:prstGeom>
          <a:solidFill>
            <a:srgbClr val="8FBF9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0" y="5897880"/>
            <a:ext cx="91440" cy="91440"/>
          </a:xfrm>
          <a:prstGeom prst="ellipse">
            <a:avLst/>
          </a:prstGeom>
          <a:solidFill>
            <a:srgbClr val="C9A227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5120640"/>
            <a:ext cx="146304" cy="146304"/>
          </a:xfrm>
          <a:prstGeom prst="ellipse">
            <a:avLst/>
          </a:prstGeom>
          <a:solidFill>
            <a:srgbClr val="8FBF9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46920" y="5623560"/>
            <a:ext cx="82296" cy="82296"/>
          </a:xfrm>
          <a:prstGeom prst="ellipse">
            <a:avLst/>
          </a:prstGeom>
          <a:solidFill>
            <a:srgbClr val="C9A227">
              <a:alpha val="4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783080" y="5760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78308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Domain  |  Internal Hackathon  |  24-30 September 2026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20574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</a:t>
            </a: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Predictor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PS-05 — Employee Attrition Analysis &amp; Prediction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1520" y="4434840"/>
            <a:ext cx="8138160" cy="1691640"/>
          </a:xfrm>
          <a:prstGeom prst="roundRect">
            <a:avLst>
              <a:gd name="adj" fmla="val 4324"/>
            </a:avLst>
          </a:prstGeom>
          <a:solidFill>
            <a:srgbClr val="1B4332">
              <a:alpha val="88000"/>
            </a:srgbClr>
          </a:solidFill>
          <a:ln w="1270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590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88920" y="459028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Dakshita Biwal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4882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88920" y="488289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24EACCS077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5175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88920" y="5175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5468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88920" y="54681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College of Engineering, Kukas, Jaipur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788920" y="5760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5CB3929-3693-1452-8064-873ED9773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94" y="506158"/>
            <a:ext cx="1121298" cy="1027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4EFE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invest heavily in recruiting and training employees. When employees leave unexpectedly, it disrupts productivity and increases hiring costs. Rich employee data — salary, role, satisfaction, overtime, tenure — already exists but is rarely used proactively to anticipate attrition before it happens.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Losing employees unexpectedly costs organizations both time and money, and disrupts ongoing 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577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HR teams, organizations, business analysts.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B4332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5087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classification system that: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267919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560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an employee is at risk of leaving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33009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182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key factors driving attrition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92277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8039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simple Low / Medium / High risk score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45445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4256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usable through a live, interactive interface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do, and what was actually built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4EFE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84832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that predicts employee attrition risk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4EFE7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798064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79192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factors most strongly associated with attrition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4EFE7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511296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511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392424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model output into an easy-to-read risk indicator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4EFE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22452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105656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different classification approaches fairly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Built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82512" y="2039112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Logistic Regression model on the full employee dataset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82512" y="2606040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487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attrition risk classification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82512" y="3172968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0540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analysis of key attrition drivers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82512" y="3739896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6210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comparison (Logistic Regression vs Random Forest)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82512" y="4306824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187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with live prediction + dashboard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&amp; Performance Dataset (Kaggle)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E4EFE7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37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Attributes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37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E4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37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Features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Categories Used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E4EFE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336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 Status, Distance From Home, Education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E4EFE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886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&amp; 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2336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Job Level, Business Travel, Job Involvement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E4EFE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120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4681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Monthly Rate, Daily Rate, Hourly Rate, Salary Hike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50292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E4EFE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5120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&amp; Tenure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4681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Job/Environment Satisfaction, Work-Life Balance, Overtime, Years at Company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309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during cleaning: EmployeeCount, StandardHours, Over18 (constant values) and EmployeeNumber (unique ID) — none carry predictive information.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end-to-end data science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constant/ID columns; encode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31089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E4EFE7"/>
          </a:solidFill>
          <a:ln/>
        </p:spPr>
      </p:sp>
      <p:sp>
        <p:nvSpPr>
          <p:cNvPr id="11" name="Shape 9"/>
          <p:cNvSpPr/>
          <p:nvPr/>
        </p:nvSpPr>
        <p:spPr>
          <a:xfrm>
            <a:off x="3086100" y="22402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30861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7860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department, overtime, income, satisfaction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912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0634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50063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7 categorical fields (~44 features)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31089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E4EFE7"/>
          </a:solidFill>
          <a:ln/>
        </p:spPr>
      </p:sp>
      <p:sp>
        <p:nvSpPr>
          <p:cNvPr id="23" name="Shape 21"/>
          <p:cNvSpPr/>
          <p:nvPr/>
        </p:nvSpPr>
        <p:spPr>
          <a:xfrm>
            <a:off x="6926580" y="22402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69265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31089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22960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1B4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884682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8468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2104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932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12680" y="31089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49840" y="1920240"/>
            <a:ext cx="1783080" cy="3291840"/>
          </a:xfrm>
          <a:prstGeom prst="roundRect">
            <a:avLst>
              <a:gd name="adj" fmla="val 3590"/>
            </a:avLst>
          </a:prstGeom>
          <a:solidFill>
            <a:srgbClr val="E4EFE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67060" y="224028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107670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241280" y="29718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59568" y="3383280"/>
            <a:ext cx="15636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live prediction + insights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Comparison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05156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B4332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1481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63840" y="20574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scores higher on accuracy, but the dataset is imbalanced (~84% stay, ~16% leave). Accuracy alone rewards predicting "stays" by default.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achieves 0.617 Recall vs 0.277 — catching over 2x more employees who actually leave — plus higher F1 and ROC-AUC.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4434840"/>
            <a:ext cx="356616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 at-risk employee costs more than a false alarm.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4EFE7"/>
          </a:solidFill>
          <a:ln/>
        </p:spPr>
      </p:sp>
      <p:sp>
        <p:nvSpPr>
          <p:cNvPr id="4" name="Shape 2"/>
          <p:cNvSpPr/>
          <p:nvPr/>
        </p:nvSpPr>
        <p:spPr>
          <a:xfrm>
            <a:off x="1988820" y="192024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leave at a noticeably higher rate than those who don't.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4EFE7"/>
          </a:solidFill>
          <a:ln/>
        </p:spPr>
      </p:sp>
      <p:sp>
        <p:nvSpPr>
          <p:cNvPr id="9" name="Shape 7"/>
          <p:cNvSpPr/>
          <p:nvPr/>
        </p:nvSpPr>
        <p:spPr>
          <a:xfrm>
            <a:off x="5829300" y="192024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58293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job satisfaction and work-life balance scores correlate with higher attrition.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4EFE7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9780" y="192024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96697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&amp; Tenure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9640" y="33832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fewer working years and lower stock options show elevated risk.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Overview &amp;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deployed Streamlit application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899930"/>
          </a:xfrm>
          <a:prstGeom prst="roundRect">
            <a:avLst>
              <a:gd name="adj" fmla="val 2207"/>
            </a:avLst>
          </a:prstGeom>
          <a:solidFill>
            <a:srgbClr val="E4EFE7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664208"/>
            <a:ext cx="5102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" y="1984248"/>
            <a:ext cx="5102352" cy="18288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029968"/>
            <a:ext cx="91440" cy="91440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2996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029968"/>
            <a:ext cx="91440" cy="91440"/>
          </a:xfrm>
          <a:prstGeom prst="ellipse">
            <a:avLst/>
          </a:prstGeom>
          <a:solidFill>
            <a:srgbClr val="8FBF9F"/>
          </a:solidFill>
          <a:ln/>
        </p:spPr>
      </p:sp>
      <p:pic>
        <p:nvPicPr>
          <p:cNvPr id="10" name="Image 0" descr="shot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203704"/>
            <a:ext cx="5102352" cy="20989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600200"/>
            <a:ext cx="5394960" cy="2988122"/>
          </a:xfrm>
          <a:prstGeom prst="roundRect">
            <a:avLst>
              <a:gd name="adj" fmla="val 2142"/>
            </a:avLst>
          </a:prstGeom>
          <a:solidFill>
            <a:srgbClr val="E4EFE7"/>
          </a:solidFill>
          <a:ln/>
        </p:spPr>
      </p:sp>
      <p:sp>
        <p:nvSpPr>
          <p:cNvPr id="12" name="Text 9"/>
          <p:cNvSpPr/>
          <p:nvPr/>
        </p:nvSpPr>
        <p:spPr>
          <a:xfrm>
            <a:off x="6364224" y="1664208"/>
            <a:ext cx="5102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</a:rPr>
              <a:t>Employee Details Input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64224" y="1984248"/>
            <a:ext cx="5102352" cy="18288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/>
        </p:spPr>
      </p:sp>
      <p:sp>
        <p:nvSpPr>
          <p:cNvPr id="14" name="Shape 11"/>
          <p:cNvSpPr/>
          <p:nvPr/>
        </p:nvSpPr>
        <p:spPr>
          <a:xfrm>
            <a:off x="6437376" y="2029968"/>
            <a:ext cx="91440" cy="91440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0" y="202996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6729984" y="2029968"/>
            <a:ext cx="91440" cy="91440"/>
          </a:xfrm>
          <a:prstGeom prst="ellipse">
            <a:avLst/>
          </a:prstGeom>
          <a:solidFill>
            <a:srgbClr val="8FBF9F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summarizes dataset-wide attrition patterns — total employees, attrition rate, and breakdowns by department and overtime status.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2" name="Image 0" descr="shot_form.png">
            <a:extLst>
              <a:ext uri="{FF2B5EF4-FFF2-40B4-BE49-F238E27FC236}">
                <a16:creationId xmlns:a16="http://schemas.microsoft.com/office/drawing/2014/main" id="{88A0A6ED-EE6A-E84A-6FD1-BD183BFCD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173949"/>
            <a:ext cx="5102352" cy="20934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Risk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employee input to a live, explainable prediction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894424"/>
          </a:xfrm>
          <a:prstGeom prst="roundRect">
            <a:avLst>
              <a:gd name="adj" fmla="val 2211"/>
            </a:avLst>
          </a:prstGeom>
          <a:solidFill>
            <a:srgbClr val="E4EFE7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664208"/>
            <a:ext cx="5102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</a:rPr>
              <a:t>Insights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" y="1984248"/>
            <a:ext cx="5102352" cy="18288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029968"/>
            <a:ext cx="91440" cy="91440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2996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029968"/>
            <a:ext cx="91440" cy="91440"/>
          </a:xfrm>
          <a:prstGeom prst="ellipse">
            <a:avLst/>
          </a:prstGeom>
          <a:solidFill>
            <a:srgbClr val="8FBF9F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600200"/>
            <a:ext cx="5394960" cy="2937943"/>
          </a:xfrm>
          <a:prstGeom prst="roundRect">
            <a:avLst>
              <a:gd name="adj" fmla="val 2179"/>
            </a:avLst>
          </a:prstGeom>
          <a:solidFill>
            <a:srgbClr val="E4EFE7"/>
          </a:solidFill>
          <a:ln/>
        </p:spPr>
      </p:sp>
      <p:sp>
        <p:nvSpPr>
          <p:cNvPr id="12" name="Text 9"/>
          <p:cNvSpPr/>
          <p:nvPr/>
        </p:nvSpPr>
        <p:spPr>
          <a:xfrm>
            <a:off x="6364224" y="1664208"/>
            <a:ext cx="5102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Result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64224" y="1984248"/>
            <a:ext cx="5102352" cy="18288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/>
        </p:spPr>
      </p:sp>
      <p:sp>
        <p:nvSpPr>
          <p:cNvPr id="14" name="Shape 11"/>
          <p:cNvSpPr/>
          <p:nvPr/>
        </p:nvSpPr>
        <p:spPr>
          <a:xfrm>
            <a:off x="6437376" y="2029968"/>
            <a:ext cx="91440" cy="91440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0" y="202996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6729984" y="2029968"/>
            <a:ext cx="91440" cy="91440"/>
          </a:xfrm>
          <a:prstGeom prst="ellipse">
            <a:avLst/>
          </a:prstGeom>
          <a:solidFill>
            <a:srgbClr val="8FBF9F"/>
          </a:solidFill>
          <a:ln/>
        </p:spPr>
      </p:sp>
      <p:pic>
        <p:nvPicPr>
          <p:cNvPr id="17" name="Image 1" descr="sho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203704"/>
            <a:ext cx="5102352" cy="213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fills in an employee's profile, clicks Predict, and instantly receives an attrition probability and a color-coded Low / Medium / High risk level.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2" name="Image 1" descr="shot_dashboard.png">
            <a:extLst>
              <a:ext uri="{FF2B5EF4-FFF2-40B4-BE49-F238E27FC236}">
                <a16:creationId xmlns:a16="http://schemas.microsoft.com/office/drawing/2014/main" id="{5E7A2E26-A32F-F2FD-D3A0-7AA101C33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167128"/>
            <a:ext cx="5102352" cy="2187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20440" y="169164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6" name="Text 4"/>
          <p:cNvSpPr/>
          <p:nvPr/>
        </p:nvSpPr>
        <p:spPr>
          <a:xfrm>
            <a:off x="352044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0" y="169164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1691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43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274320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743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74320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743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06840" y="274320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743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79476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379476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06840" y="3794760"/>
            <a:ext cx="2514600" cy="777240"/>
          </a:xfrm>
          <a:prstGeom prst="roundRect">
            <a:avLst>
              <a:gd name="adj" fmla="val 41176"/>
            </a:avLst>
          </a:prstGeom>
          <a:solidFill>
            <a:srgbClr val="E4EFE7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Arya's Domain Verse 1.0  |  PS-05: Employee Attrition Prediction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572000" cy="457200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840480" cy="3840480"/>
          </a:xfrm>
          <a:prstGeom prst="ellipse">
            <a:avLst/>
          </a:prstGeom>
          <a:solidFill>
            <a:srgbClr val="1B4332">
              <a:alpha val="6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Risk Predictor  |  PS-05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92899" y="40158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18979" y="4015896"/>
            <a:ext cx="45850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https://github.com/dakshita01/attrition-predictor-domainverse</a:t>
            </a:r>
          </a:p>
        </p:txBody>
      </p:sp>
      <p:sp>
        <p:nvSpPr>
          <p:cNvPr id="10" name="Text 7"/>
          <p:cNvSpPr/>
          <p:nvPr/>
        </p:nvSpPr>
        <p:spPr>
          <a:xfrm>
            <a:off x="2792899" y="44577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18979" y="4503419"/>
            <a:ext cx="4146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https://attrition-predictor-domainverse.streamlit.app/</a:t>
            </a:r>
          </a:p>
        </p:txBody>
      </p:sp>
      <p:sp>
        <p:nvSpPr>
          <p:cNvPr id="12" name="Text 9"/>
          <p:cNvSpPr/>
          <p:nvPr/>
        </p:nvSpPr>
        <p:spPr>
          <a:xfrm>
            <a:off x="2792899" y="4884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8979" y="4914901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24EACCS077  |  CSE, Section Alpha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College of Engineering, Kukas, Jaipur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755734-0609-9F5B-D4AE-7A839A84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099" y="822962"/>
            <a:ext cx="1180761" cy="1081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857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Dakshita Biwal</cp:lastModifiedBy>
  <cp:revision>4</cp:revision>
  <dcterms:created xsi:type="dcterms:W3CDTF">2026-09-24T05:17:19Z</dcterms:created>
  <dcterms:modified xsi:type="dcterms:W3CDTF">2026-10-06T09:43:28Z</dcterms:modified>
</cp:coreProperties>
</file>